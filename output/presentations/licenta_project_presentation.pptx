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a17dda03bc41f3" /><Relationship Type="http://schemas.openxmlformats.org/officeDocument/2006/relationships/extended-properties" Target="/docProps/app.xml" Id="R3d8496ae4cf840d3" /><Relationship Type="http://schemas.openxmlformats.org/officeDocument/2006/relationships/officeDocument" Target="/ppt/presentation.xml" Id="R668a05fcea504a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0b811af4cd4b77"/>
  </p:sldMasterIdLst>
  <p:notesMasterIdLst>
    <p:notesMasterId xmlns:r="http://schemas.openxmlformats.org/officeDocument/2006/relationships" r:id="Ra669edd3bdbf4607"/>
  </p:notesMasterIdLst>
  <p:sldIdLst>
    <p:sldId xmlns:r="http://schemas.openxmlformats.org/officeDocument/2006/relationships" id="256" r:id="R57f40162484c4e9c"/>
    <p:sldId xmlns:r="http://schemas.openxmlformats.org/officeDocument/2006/relationships" id="257" r:id="Ra917c09b2f7840fb"/>
    <p:sldId xmlns:r="http://schemas.openxmlformats.org/officeDocument/2006/relationships" id="258" r:id="Rbae1178da6b04019"/>
    <p:sldId xmlns:r="http://schemas.openxmlformats.org/officeDocument/2006/relationships" id="259" r:id="Rfcb4ab93dc314fa8"/>
    <p:sldId xmlns:r="http://schemas.openxmlformats.org/officeDocument/2006/relationships" id="260" r:id="R975efda1e3b44f7d"/>
    <p:sldId xmlns:r="http://schemas.openxmlformats.org/officeDocument/2006/relationships" id="261" r:id="R6ea679dfbb6c42e4"/>
    <p:sldId xmlns:r="http://schemas.openxmlformats.org/officeDocument/2006/relationships" id="262" r:id="R726b650020a24a24"/>
    <p:sldId xmlns:r="http://schemas.openxmlformats.org/officeDocument/2006/relationships" id="263" r:id="Rba818f315e0840c9"/>
    <p:sldId xmlns:r="http://schemas.openxmlformats.org/officeDocument/2006/relationships" id="264" r:id="R9c9cc550ed834ab7"/>
    <p:sldId xmlns:r="http://schemas.openxmlformats.org/officeDocument/2006/relationships" id="265" r:id="R40dd83e8ec6148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36ecce530b490c" /><Relationship Type="http://schemas.openxmlformats.org/officeDocument/2006/relationships/slideMaster" Target="/ppt/slideMasters/slideMaster1.xml" Id="R9e0b811af4cd4b77" /><Relationship Type="http://schemas.openxmlformats.org/officeDocument/2006/relationships/notesMaster" Target="/ppt/notesMasters/notesMaster1.xml" Id="Ra669edd3bdbf4607" /><Relationship Type="http://schemas.openxmlformats.org/officeDocument/2006/relationships/presProps" Target="/ppt/presProps.xml" Id="R68c6d6e12e0848f1" /><Relationship Type="http://schemas.openxmlformats.org/officeDocument/2006/relationships/tableStyles" Target="/ppt/tableStyles.xml" Id="R1f0628557a324aeb" /><Relationship Type="http://schemas.openxmlformats.org/officeDocument/2006/relationships/slide" Target="/ppt/slides/slide1.xml" Id="R57f40162484c4e9c" /><Relationship Type="http://schemas.openxmlformats.org/officeDocument/2006/relationships/slide" Target="/ppt/slides/slide2.xml" Id="Ra917c09b2f7840fb" /><Relationship Type="http://schemas.openxmlformats.org/officeDocument/2006/relationships/slide" Target="/ppt/slides/slide3.xml" Id="Rbae1178da6b04019" /><Relationship Type="http://schemas.openxmlformats.org/officeDocument/2006/relationships/slide" Target="/ppt/slides/slide4.xml" Id="Rfcb4ab93dc314fa8" /><Relationship Type="http://schemas.openxmlformats.org/officeDocument/2006/relationships/slide" Target="/ppt/slides/slide5.xml" Id="R975efda1e3b44f7d" /><Relationship Type="http://schemas.openxmlformats.org/officeDocument/2006/relationships/slide" Target="/ppt/slides/slide6.xml" Id="R6ea679dfbb6c42e4" /><Relationship Type="http://schemas.openxmlformats.org/officeDocument/2006/relationships/slide" Target="/ppt/slides/slide7.xml" Id="R726b650020a24a24" /><Relationship Type="http://schemas.openxmlformats.org/officeDocument/2006/relationships/slide" Target="/ppt/slides/slide8.xml" Id="Rba818f315e0840c9" /><Relationship Type="http://schemas.openxmlformats.org/officeDocument/2006/relationships/slide" Target="/ppt/slides/slide9.xml" Id="R9c9cc550ed834ab7" /><Relationship Type="http://schemas.openxmlformats.org/officeDocument/2006/relationships/slide" Target="/ppt/slides/slide10.xml" Id="R40dd83e8ec6148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a9ef5f714f4b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3a4e24a6af45c5" /><Relationship Type="http://schemas.openxmlformats.org/officeDocument/2006/relationships/notesMaster" Target="/ppt/notesMasters/notesMaster1.xml" Id="Rec588bbae31a4d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709591e94142c3" /><Relationship Type="http://schemas.openxmlformats.org/officeDocument/2006/relationships/notesMaster" Target="/ppt/notesMasters/notesMaster1.xml" Id="Rf70dc70d15ad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6ac2de89f745bb" /><Relationship Type="http://schemas.openxmlformats.org/officeDocument/2006/relationships/notesMaster" Target="/ppt/notesMasters/notesMaster1.xml" Id="R1c3f3663877140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29438be1614820" /><Relationship Type="http://schemas.openxmlformats.org/officeDocument/2006/relationships/notesMaster" Target="/ppt/notesMasters/notesMaster1.xml" Id="R7182fba24ee242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6f91434f4f44da" /><Relationship Type="http://schemas.openxmlformats.org/officeDocument/2006/relationships/notesMaster" Target="/ppt/notesMasters/notesMaster1.xml" Id="R28d17510bc7f44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429d5f1de048d3" /><Relationship Type="http://schemas.openxmlformats.org/officeDocument/2006/relationships/notesMaster" Target="/ppt/notesMasters/notesMaster1.xml" Id="Rd6d49630a4704c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e33cb164f4ca8" /><Relationship Type="http://schemas.openxmlformats.org/officeDocument/2006/relationships/notesMaster" Target="/ppt/notesMasters/notesMaster1.xml" Id="Ree408ea28436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1ed50fc0274e81" /><Relationship Type="http://schemas.openxmlformats.org/officeDocument/2006/relationships/notesMaster" Target="/ppt/notesMasters/notesMaster1.xml" Id="R82afc872d90a47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6ae822a416423a" /><Relationship Type="http://schemas.openxmlformats.org/officeDocument/2006/relationships/notesMaster" Target="/ppt/notesMasters/notesMaster1.xml" Id="R6ce0dfdb311142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0c9787e2d7440d" /><Relationship Type="http://schemas.openxmlformats.org/officeDocument/2006/relationships/notesMaster" Target="/ppt/notesMasters/notesMaster1.xml" Id="Re06ad4434ddd41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Deschid cu ideea că nu prezint un CRUD, ci o platformă completă.</a:t>
            </a:r>
          </a:p>
          <a:p xmlns:a="http://schemas.openxmlformats.org/drawingml/2006/main">
            <a:r>
              <a:t>Accentul este pe corectitudine istorică, securitate și scalare.</a:t>
            </a:r>
          </a:p>
          <a:p xmlns:a="http://schemas.openxmlformats.org/drawingml/2006/main">
            <a:r>
              <a:t>Nu intru încă în detalii. Doar setez cadrul.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Aici explic tensiunea principală: planul e editabil, istoricul trebuie să rămână factual.</a:t>
            </a:r>
          </a:p>
          <a:p xmlns:a="http://schemas.openxmlformats.org/drawingml/2006/main">
            <a:r>
              <a:t>Leg imediat problema de securitate: dacă sunt mai mulți utilizatori, autentificarea nu ajunge.</a:t>
            </a:r>
          </a:p>
          <a:p xmlns:a="http://schemas.openxmlformats.org/drawingml/2006/main">
            <a:r>
              <a:t>Pregătesc tranziția spre fluxul aplicației.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Acesta este slide-ul pe care îl folosesc ca hartă mentală pentru toată aplicația.</a:t>
            </a:r>
          </a:p>
          <a:p xmlns:a="http://schemas.openxmlformats.org/drawingml/2006/main">
            <a:r>
              <a:t>Îl explic ca utilizator: creez resurse, template, sesiune, seturi, apoi istoric.</a:t>
            </a:r>
          </a:p>
          <a:p xmlns:a="http://schemas.openxmlformats.org/drawingml/2006/main">
            <a:r>
              <a:t>Apoi îl explic tehnic: sistemul separă datele editabile de cele istorice.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Spun clar: PostgreSQL este autoritativ. OpenSearch nu înlocuiește baza de date.</a:t>
            </a:r>
          </a:p>
          <a:p xmlns:a="http://schemas.openxmlformats.org/drawingml/2006/main">
            <a:r>
              <a:t>Menționez separarea pe module din backend și frontend.</a:t>
            </a:r>
          </a:p>
          <a:p xmlns:a="http://schemas.openxmlformats.org/drawingml/2006/main">
            <a:r>
              <a:t>Adaug că testele folosesc containere reale, nu H2.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Aici explic foarte simplu că snapshot în proiect înseamnă câmp copiat, nu backup.</a:t>
            </a:r>
          </a:p>
          <a:p xmlns:a="http://schemas.openxmlformats.org/drawingml/2006/main">
            <a:r>
              <a:t>Dau exemplul cu Bench Press redenumit după antrenament.</a:t>
            </a:r>
          </a:p>
          <a:p xmlns:a="http://schemas.openxmlformats.org/drawingml/2006/main">
            <a:r>
              <a:t>Insist pe lanțul corect workout_sets -&gt; session_exercises -&gt; workout_sessions.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Spun diferența dintre autentificare și autorizare.</a:t>
            </a:r>
          </a:p>
          <a:p xmlns:a="http://schemas.openxmlformats.org/drawingml/2006/main">
            <a:r>
              <a:t>Explic de ce refresh token-ul e cookie HttpOnly și de ce în DB e doar hash-ul.</a:t>
            </a:r>
          </a:p>
          <a:p xmlns:a="http://schemas.openxmlformats.org/drawingml/2006/main">
            <a:r>
              <a:t>Pentru IDOR: un utilizator nu poate schimba un ID în URL ca să vadă datele altuia.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Aici arăt că proiectul este mai mult decât OpenSearch.</a:t>
            </a:r>
          </a:p>
          <a:p xmlns:a="http://schemas.openxmlformats.org/drawingml/2006/main">
            <a:r>
              <a:t>Marketplace-ul demonstrează deep copy și independența copiei.</a:t>
            </a:r>
          </a:p>
          <a:p xmlns:a="http://schemas.openxmlformats.org/drawingml/2006/main">
            <a:r>
              <a:t>Analizatorul e explicabil, iar coaching-ul demonstrează ReBAC.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Aici spun că OpenSearch nu a fost introdus ca ornament.</a:t>
            </a:r>
          </a:p>
          <a:p xmlns:a="http://schemas.openxmlformats.org/drawingml/2006/main">
            <a:r>
              <a:t>Benchmark-ul compară cu PostgreSQL bine configurat, nu cu ILIKE.</a:t>
            </a:r>
          </a:p>
          <a:p xmlns:a="http://schemas.openxmlformats.org/drawingml/2006/main">
            <a:r>
              <a:t>Cea mai puternică justificare este fuzzy search: benhc -&gt; bench la latență interactivă.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Subliniez că nu am lăsat integritatea doar în cod.</a:t>
            </a:r>
          </a:p>
          <a:p xmlns:a="http://schemas.openxmlformats.org/drawingml/2006/main">
            <a:r>
              <a:t>Exemplu bun: unique partial index pentru un singur workout IN_PROGRESS per user.</a:t>
            </a:r>
          </a:p>
          <a:p xmlns:a="http://schemas.openxmlformats.org/drawingml/2006/main">
            <a:r>
              <a:t>Testele pornesc servicii reale, deci acoperă comportament apropiat de producție.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Închei revenind la ideea de început: planificare editabilă, istoric stabil.</a:t>
            </a:r>
          </a:p>
          <a:p xmlns:a="http://schemas.openxmlformats.org/drawingml/2006/main">
            <a:r>
              <a:t>Apoi comprim contribuția: sistem complet, securitate, snapshot-uri, OpenSearch, teste.</a:t>
            </a:r>
          </a:p>
          <a:p xmlns:a="http://schemas.openxmlformats.org/drawingml/2006/main">
            <a:r>
              <a:t>Dacă sunt întrebat ce e cel mai important, răspund integrarea acestor piese într-o platformă coerentă.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a1aa8d85940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3f3f253c384e33" /><Relationship Type="http://schemas.openxmlformats.org/officeDocument/2006/relationships/slideLayout" Target="/ppt/slideLayouts/slideLayout1.xml" Id="Rf719e231d283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19e231d283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407e991c0466a" /><Relationship Type="http://schemas.openxmlformats.org/officeDocument/2006/relationships/notesSlide" Target="/ppt/notesSlides/notesSlide1.xml" Id="R0ed80c5c1d6f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4680bd7c146b7" /><Relationship Type="http://schemas.openxmlformats.org/officeDocument/2006/relationships/notesSlide" Target="/ppt/notesSlides/notesSlide2.xml" Id="R79a97a0bb91c44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47777cecf4d2d" /><Relationship Type="http://schemas.openxmlformats.org/officeDocument/2006/relationships/notesSlide" Target="/ppt/notesSlides/notesSlide3.xml" Id="Ra70d046abcd64a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9dab6b7944d5c" /><Relationship Type="http://schemas.openxmlformats.org/officeDocument/2006/relationships/notesSlide" Target="/ppt/notesSlides/notesSlide4.xml" Id="Rf2e0a6b4547d40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1be3694b746ff" /><Relationship Type="http://schemas.openxmlformats.org/officeDocument/2006/relationships/notesSlide" Target="/ppt/notesSlides/notesSlide5.xml" Id="Rfacefcb1eb6642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662b1e494413b" /><Relationship Type="http://schemas.openxmlformats.org/officeDocument/2006/relationships/notesSlide" Target="/ppt/notesSlides/notesSlide6.xml" Id="R22ed1a471bf149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e74e4ca054815" /><Relationship Type="http://schemas.openxmlformats.org/officeDocument/2006/relationships/notesSlide" Target="/ppt/notesSlides/notesSlide7.xml" Id="R23210ac63fb546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538a2464a468e" /><Relationship Type="http://schemas.openxmlformats.org/officeDocument/2006/relationships/notesSlide" Target="/ppt/notesSlides/notesSlide8.xml" Id="Rfe06e69f593344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662977d9a4062" /><Relationship Type="http://schemas.openxmlformats.org/officeDocument/2006/relationships/notesSlide" Target="/ppt/notesSlides/notesSlide9.xml" Id="R47bf1ef59ee94f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9e281b0bd450b" /><Relationship Type="http://schemas.openxmlformats.org/officeDocument/2006/relationships/notesSlide" Target="/ppt/notesSlides/notesSlide10.xml" Id="R05a5656350864a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F62A41-2EE9-4560-94F5-2E80DC95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Platformă web sigură pentru planificarea, monitorizarea și analiza antrenamentelor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13022-4A76-4969-902D-A7ACEFB3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Aplicație full-stack cu istoric stabil, securitate multi-user și căutare scalabilă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E688F-263D-4324-98A6-B885AA60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53E01-92E2-487E-B6CC-0821B93B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Ideea centrală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2541B-F22E-4583-AD19-357FA2D5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Datele de planificare se pot schimba, dar istoricul antrenamentelor trebuie să rămână corect.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E6D70-C466-48E7-855A-DB214305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767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B855D-3A8E-4358-BEF6-096FB078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29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Contribuția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E9E7B-44D9-40C2-BCDA-82139855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673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Am integrat planificare, sesiuni live, marketplace, coaching, analizator, securitate și OpenSearch într-un sistem coerent.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AED99-06B6-4A66-A756-A8303C34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5E74A-7716-404D-B0EF-8A6F19E9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60035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E47E4-12A7-45B7-86E4-4811411C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B0D5D-F1AA-491F-B83E-7D32F2DA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Problema reală este că planul se schimbă, dar istoricul nu trebuie să se rescrie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B6069-977B-44E4-BFE2-46E21469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29E78-080F-42F6-8EE4-867B3447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1D4D1-1A9F-4437-B6A0-8ADC5328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Planificarea este editabilă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F6177-01D2-4264-919D-948B325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762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exerciții, rutine, săli, echipamente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template-uri pe zile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publicare în marketplace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modificări și ștergere logică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2D1C7-E606-4F37-942C-0583F4BC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D8124-5CB8-409D-BC80-9A49BCD3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479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Istoricul trebuie să fie stabil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C0B41-A776-49FF-A23E-E95FDE1B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62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sesiuni pornite dintr-un template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seturi executate de utilizator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nume și valori păstrate ca la momentul execuției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analytics și search peste date istorice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C927C-0088-4EAB-B110-E3949AF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CA2D6-033A-496F-B97D-D49EB4C3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Mai există o problemă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411F4-89C0-4E52-B404-3266AECD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476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aplicația este multi-user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datele personale nu pot fi accesate prin ID-uri ghicite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coach-ul vede doar clienții cu relație activă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69EFC-09C6-4B44-98CE-6B93943C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De aici apar cele trei decizii importante: snapshot-uri, autorizare la nivel de resursă și model de citire OpenSearch.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4C980-7458-4D5A-A049-8F7D0B5A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9AA06-0D4B-4F68-8E3A-CC1F3CA2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74051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6D52A-DE44-4AFF-BAAC-0D472D7B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9C085-863E-4115-B5A9-009D50B7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Fluxul principal transformă planificarea într-un istoric analizabil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928A4-D46A-4303-8E01-A6FF2860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97B45-D82C-4E4A-B3F3-8D83230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FCE23-32B4-44AC-A4DF-C934DA56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9F"/>
                </a:solidFill>
              </a:defRPr>
            </a:pPr>
            <a:r>
              <a:rPr sz="1350" b="1">
                <a:solidFill>
                  <a:srgbClr val="2F6F9F"/>
                </a:solidFill>
              </a:rPr>
              <a:t>Resurse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260EB-411F-4731-B057-96D8F08F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exerciții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rutine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săli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echipamente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D58E0-6466-4256-A496-4E26182C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527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C7A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39DD0-6676-43F2-832F-E7E8D9DB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670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7A57"/>
                </a:solidFill>
              </a:defRPr>
            </a:pPr>
            <a:r>
              <a:rPr sz="1350" b="1">
                <a:solidFill>
                  <a:srgbClr val="3C7A57"/>
                </a:solidFill>
              </a:rPr>
              <a:t>Template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F5656-C983-490F-A566-AB86CFD5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099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program pe zile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exerciții planificate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rutine START/END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D41C0-810E-4521-B44A-FAD9D96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6B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29F19-47A6-46AB-BC4A-535C9A7E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B19"/>
                </a:solidFill>
              </a:defRPr>
            </a:pPr>
            <a:r>
              <a:rPr sz="1350" b="1">
                <a:solidFill>
                  <a:srgbClr val="9A6B19"/>
                </a:solidFill>
              </a:rPr>
              <a:t>Sesiune 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254EC-B9F6-43E8-801C-12E670ED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99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start workout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snapshot-uri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extra exercises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AE66C-BA75-42EB-A393-38516017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527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6B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245BB-F4DD-4A9A-BD44-6DDBD2AC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B19"/>
                </a:solidFill>
              </a:defRPr>
            </a:pPr>
            <a:r>
              <a:rPr sz="1350" b="1">
                <a:solidFill>
                  <a:srgbClr val="9A6B19"/>
                </a:solidFill>
              </a:rPr>
              <a:t>Seturi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48CB1-13E3-45F6-87B3-D8A01473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99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greutate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repetări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RPE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echipament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194B3-641B-4231-B245-94BBCB6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C7A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1563A-CE3C-4703-8B8E-D245AAB4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7A57"/>
                </a:solidFill>
              </a:defRPr>
            </a:pPr>
            <a:r>
              <a:rPr sz="1350" b="1">
                <a:solidFill>
                  <a:srgbClr val="3C7A57"/>
                </a:solidFill>
              </a:rPr>
              <a:t>Istoric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A41EF-F94F-4809-92CC-F9748475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sesiuni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summary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95BD7-9937-4648-9388-1295DBE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5270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3A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682C4-0A41-4CC5-A472-AC9B98E0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670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3A48"/>
                </a:solidFill>
              </a:defRPr>
            </a:pPr>
            <a:r>
              <a:rPr sz="1350" b="1">
                <a:solidFill>
                  <a:srgbClr val="B23A48"/>
                </a:solidFill>
              </a:rPr>
              <a:t>Analiză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2D913-54B4-4EF5-A5E4-7C8E75EE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0990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analytics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search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coach view</a:t>
            </a:r>
          </a:p>
        </p:txBody>
      </p:sp>
      <p:cxnSp>
        <p:nvCxnSpPr>
          <p:cNvPr id="5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19300" y="3048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57625" y="3048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95950" y="3048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34275" y="3048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72600" y="3048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77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FCA92-4A10-421B-A0A3-9AC0438D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2A6704-65D2-40C6-A581-2AFD632F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81525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Ce vede utilizatorul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53237-60E0-43F8-98B2-A8119684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196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Își construiește programul, pornește un antrenament, loghează seturi și apoi vede istoricul, graficele și căutarea.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7BD2B9-1FB7-4415-91EB-598469E6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C70550-54AD-489C-A38B-1897380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81525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Ce face sistemul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DDEA3-8B88-4BEF-ACE5-55E1478C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96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Separă planul editabil de execuția istorică și aplică verificări de acces la fiecare pas.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9FD39-352D-4ADE-A07F-564802C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C09983-DD2A-48AC-9E66-0F43CF02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02444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F1047-C84E-4496-A280-BF7E1854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320F3-CFA1-4B9E-85AF-0A37CC9B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Arhitectura păstrează PostgreSQL ca sursă de adevăr și OpenSearch ca proiecție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24331-A466-4D41-B8FB-411FD2A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6A05B-8924-414C-96CA-EBF8E8D7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BB18A-D243-480C-ABF4-3E8113E9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9F"/>
                </a:solidFill>
              </a:defRPr>
            </a:pPr>
            <a:r>
              <a:rPr sz="1350" b="1">
                <a:solidFill>
                  <a:srgbClr val="2F6F9F"/>
                </a:solidFill>
              </a:rPr>
              <a:t>React + TypeScript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A87DD-8867-43B7-B7A4-2801232C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Vite SPA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feature modules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theme + auth 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17909-D462-4B55-B276-E3AF5469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07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C7A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79145-950E-4BE8-B446-CBB00642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050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7A57"/>
                </a:solidFill>
              </a:defRPr>
            </a:pPr>
            <a:r>
              <a:rPr sz="1350" b="1">
                <a:solidFill>
                  <a:srgbClr val="3C7A57"/>
                </a:solidFill>
              </a:rPr>
              <a:t>Spring Boot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E6670-AC74-439F-BE6B-F61421CE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controllers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services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repositories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DTO-uri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3F1A4-5CFE-4612-A302-687D2939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907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6B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6E17E-23E3-4B4C-9321-CE496BF2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050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B19"/>
                </a:solidFill>
              </a:defRPr>
            </a:pPr>
            <a:r>
              <a:rPr sz="1350" b="1">
                <a:solidFill>
                  <a:srgbClr val="9A6B19"/>
                </a:solidFill>
              </a:rPr>
              <a:t>PostgreSQL 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8AC2F-0EAE-439B-A36D-77B8B629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4790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Flyway migrations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FK, CHECK, indexes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source of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357B4-ECC1-40BD-A45B-844CA1D1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3A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AD98C-41C9-419E-A79E-5384F0C3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956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3A48"/>
                </a:solidFill>
              </a:defRPr>
            </a:pPr>
            <a:r>
              <a:rPr sz="1350" b="1">
                <a:solidFill>
                  <a:srgbClr val="B23A48"/>
                </a:solidFill>
              </a:rPr>
              <a:t>OpenSearch 2.13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A8864-CDD3-4235-8AE4-C5FD032B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38575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full-text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fuzzy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facets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highlights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ED843-4EEC-434E-B8C3-E47DEDD6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51727-17A8-4BDB-9D74-F54F5720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Testcontainers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B36BA-9EDF-4F56-8881-7F25C41A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PostgreSQL real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OpenSearch real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fără H2</a:t>
            </a:r>
          </a:p>
        </p:txBody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14600" y="27146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9F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972050" y="2324100"/>
            <a:ext cx="647700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6B19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72050" y="2714625"/>
            <a:ext cx="64770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23A48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4972050" y="2714625"/>
            <a:ext cx="3295650" cy="381000"/>
          </a:xfrm>
          <a:prstGeom xmlns:a="http://schemas.openxmlformats.org/drawingml/2006/main" prst="bentConnector3">
            <a:avLst>
              <a:gd name="adj1" fmla="val 93064"/>
            </a:avLst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C136C-6447-4B98-973C-D6D984EA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57750"/>
            <a:ext cx="9667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570AD-86D9-4278-8E06-ED8FF1D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10150"/>
            <a:ext cx="932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Ideea de arhitectură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F013D-5127-463F-877B-1BA411BB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48300"/>
            <a:ext cx="9286875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Backend-ul scrie și validează datele în PostgreSQL. OpenSearch este o copie derivată pentru căutare, care poate fi reconstruită din PostgreSQL.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1D7884-5333-4C02-8088-22AA6569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1B9ECA-C861-423C-ADA7-52AE98E2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80725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2CBC2-FC4D-4452-A295-99B40E8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5ABE6-B6E7-48E2-9C81-F84EF05F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Snapshot-urile sunt copii istorice ale câmpurilor care nu trebuie să se schimbe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807AA-D922-4700-B6B6-FDB30ABC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09D49-438F-4DE4-8D4D-78DE1D38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A9C3-6AF0-4498-8274-4F33F3D8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9F"/>
                </a:solidFill>
              </a:defRPr>
            </a:pPr>
            <a:r>
              <a:rPr sz="1350" b="1">
                <a:solidFill>
                  <a:srgbClr val="2F6F9F"/>
                </a:solidFill>
              </a:rPr>
              <a:t>Tabele de planificare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C2878-CA99-4C28-A9A8-B2D2C552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20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workout_templates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template_days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template_day_exercises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routines, gyms, equipment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1A1DC-BAAF-49DD-8CCE-8B1E5ECA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CB573-6B92-4BEA-A18F-783943E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POST /workouts/start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D9856-90FE-42B1-AD0A-68416D1C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52700"/>
            <a:ext cx="1733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verifică owner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verifică sala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ziua nu e goală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un singur IN_PROGRESS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ED114-844C-4989-AF00-BFFBFB63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6B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244D4-82A5-46AB-97F6-50541306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098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B19"/>
                </a:solidFill>
              </a:defRPr>
            </a:pPr>
            <a:r>
              <a:rPr sz="1350" b="1">
                <a:solidFill>
                  <a:srgbClr val="9A6B19"/>
                </a:solidFill>
              </a:rPr>
              <a:t>Tabele istorice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D68CE-6F12-44B9-BB0F-40745D1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5270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workout_sessions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session_exercises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session_routines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workout_sets</a:t>
            </a:r>
          </a:p>
        </p:txBody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27622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15050" y="2762250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B19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EB07F-3877-490B-8151-E723EBD9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481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A2361-BD0E-4A69-80F2-ECFB2825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005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Exemplu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1613A-3371-4EF4-8FB5-859934C4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386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exercises.name = Bench 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se copiază în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session_exercises.exercise_name_snapshot = Bench Press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72E38-E92B-45DD-BE08-32A15995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481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DB6F0-14BB-4BE4-80BB-ECB98765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005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De ce nu e doar FK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3B659-7D61-4749-B95A-D9DAB1DD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386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original_exercise_id poate indica exercițiul curent, dar snapshot-ul păstrează numele de la momentul sesiunii.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87BA5-6B81-4E92-8503-1F50329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481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9A6B1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427BD-C87F-4D29-9A17-5ABBA065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005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Regula de 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F601B-5076-4B5A-B20E-D506D87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386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workout_sets -&gt; session_exercises -&gt; workout_sessions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workout_sets -&gt; template_day_exercises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A8D80-49BF-4EDD-8E45-9B353740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DF8C6-2AEA-4B6A-90DC-ED19A3E4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33771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4CD99-4133-48A2-B597-E68F50EC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3B2B3-B41B-4D43-866A-6E77468E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Securitatea nu se oprește la login: fiecare resursă este verificată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BAADA-874B-454F-9078-00EF1293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4F8E8-A115-490C-A4B0-B8B1A5CE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90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53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8F31F-8FDC-47AB-BF44-1DBDB4ED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539B"/>
                </a:solidFill>
              </a:defRPr>
            </a:pPr>
            <a:r>
              <a:rPr sz="1350" b="1">
                <a:solidFill>
                  <a:srgbClr val="74539B"/>
                </a:solidFill>
              </a:rPr>
              <a:t>Autentificare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89BA5-A06D-40DE-B32E-10B8B96B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JWT access token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refresh token opac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parole BCrypt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73F5E-F9D1-4A44-B3E7-B54B74FB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53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DEB8C-148E-4E99-80A3-92B458B4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539B"/>
                </a:solidFill>
              </a:defRPr>
            </a:pPr>
            <a:r>
              <a:rPr sz="1350" b="1">
                <a:solidFill>
                  <a:srgbClr val="74539B"/>
                </a:solidFill>
              </a:rPr>
              <a:t>Refresh sigur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782CE-A01F-4534-9C56-2F5B5B1D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173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cookie HttpOnly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SameSite=Strict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hash SHA-256 în DB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rotație la refresh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F039E-1273-4BA3-8574-DB33797B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190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C7A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506E1-A82B-4B11-82FC-C11AD532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7A57"/>
                </a:solidFill>
              </a:defRPr>
            </a:pPr>
            <a:r>
              <a:rPr sz="1350" b="1">
                <a:solidFill>
                  <a:srgbClr val="3C7A57"/>
                </a:solidFill>
              </a:rPr>
              <a:t>RBAC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26B13-9879-43F1-89B7-E6EB3039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52700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/api/admin/** -&gt; ADMIN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/api/coach/** -&gt; COACH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restul /api/** autenticat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E9F40-4F11-42E7-9159-B4C77E5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3A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A2028-B4D2-4908-9EEB-902BE8B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98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3A48"/>
                </a:solidFill>
              </a:defRPr>
            </a:pPr>
            <a:r>
              <a:rPr sz="1350" b="1">
                <a:solidFill>
                  <a:srgbClr val="B23A48"/>
                </a:solidFill>
              </a:rPr>
              <a:t>Ownership/ReBAC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4BE8C-4EF6-4888-9EDE-B79791AC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173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userId din JWT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404 pentru resursa altuia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coach doar cu relație ACTIVE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2714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539B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334000" y="2714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05750" y="2714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3A48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4E408-C1FF-4118-B00F-8BDA5ABF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48125"/>
            <a:ext cx="419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24168-F21C-4482-A8B9-C54A33A8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0052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Anti-IDOR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87098-7EFE-4E6C-99CC-FC5BF18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386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Frontend-ul nu decide userId-ul resursei. Backend-ul îl ia din JWT și încarcă resursele prin query-uri owner-scoped sau verificări pe lanțul de proprietate.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67ADD-A814-4D76-B54A-6B97BFF4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19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84FE9-557E-44BD-BA8A-10999FAB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RBAC vs ReBAC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FA5BAD-2919-48DE-8E67-A4BB9866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386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Rolul COACH deschide zona de coaching, dar accesul real la datele clientului cere relație coach-client ACTIVE.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C6B16-F8C8-42FF-B7E1-E5E8C1E2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B3EFD-8860-4433-BD8D-B99A14B8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49624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353CC-D5AE-41CE-937A-56D5EFE2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1CA03-BD50-44BD-A516-1320C4D4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Modulele avansate folosesc aceleași reguli de corectitudine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36EAC-AF6A-472A-AC78-87CE6D9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87AEE-646F-4C74-878D-979E9134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F210A-63C1-4014-AAB0-A0E9C79F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C7A57"/>
                </a:solidFill>
              </a:defRPr>
            </a:pPr>
            <a:r>
              <a:rPr sz="1725" b="1">
                <a:solidFill>
                  <a:srgbClr val="3C7A57"/>
                </a:solidFill>
              </a:rPr>
              <a:t>Marketplace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1869-BCC9-43E9-A786-B3FF6361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76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template public doar dacă nu este gol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vote/save/use cu contoare în template_stats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use creează o copie privată independentă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referințele custom ale altui user nu se păstrează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A4808-82BE-4457-936E-1ED9AA7B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3043F-4F85-4998-B902-AFD9A018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479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3A48"/>
                </a:solidFill>
              </a:defRPr>
            </a:pPr>
            <a:r>
              <a:rPr sz="1725" b="1">
                <a:solidFill>
                  <a:srgbClr val="B23A48"/>
                </a:solidFill>
              </a:rPr>
              <a:t>Analizator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D93A7-89E9-4F1A-9D75-077B266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6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determinist, rule-based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scor 0-100 și categorii explicabile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volume, frequency, balance, session design, rest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nu este AI și nu oferă sfat medical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8708E-890C-44B8-B153-496381D5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A3AA1-A83F-4353-AE31-2ED43839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539B"/>
                </a:solidFill>
              </a:defRPr>
            </a:pPr>
            <a:r>
              <a:rPr sz="1725" b="1">
                <a:solidFill>
                  <a:srgbClr val="74539B"/>
                </a:solidFill>
              </a:rPr>
              <a:t>Coaching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5F282-A603-42AA-AA33-4CA4A3EF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476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invitații coach-client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relație PENDING/ACTIVE/REVOKED/REJECTED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coach vede doar clienții activi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history, analytics, sessions și search scoped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F634B-7B16-4840-8F32-1FBA547A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Aceste module nu sunt insule separate: toate respectă owner checks, date istorice stabile și sursa de adevăr PostgreSQL.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90317-C202-44E7-B913-B3FBC177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47414-CB9E-40FC-BB5D-95C95DC7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01867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DF6F8-8C6C-449C-B276-81ADFB8B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69BEC-DEFE-4EAD-829E-AC49A86E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OpenSearch este justificat prin căutare fuzzy și scalare măsurată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4C8DF-47F8-4FDA-BA81-F4084B63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99699-BDCE-46F8-9369-F98FC245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6B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E746-3CBF-4309-A4D6-DD6DE93F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B19"/>
                </a:solidFill>
              </a:defRPr>
            </a:pPr>
            <a:r>
              <a:rPr sz="1350" b="1">
                <a:solidFill>
                  <a:srgbClr val="9A6B19"/>
                </a:solidFill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24CE0-5511-4A5E-BD94-35C1198E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source of truth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tranzacții și integritate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SQL browse/list fallback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8A772-3972-4DF4-A8BF-4FD495A6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EB706-F906-41A7-890B-F72DC97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098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AFTER_COMMIT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C267B-B708-4BB9-8537-DB27FAAF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indexarea nu vede rollback-uri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failure log + rebuild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5E81F-7DC5-45CD-AC18-E548620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3A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BC897-2692-4A15-A15A-8989B7C9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3A48"/>
                </a:solidFill>
              </a:defRPr>
            </a:pPr>
            <a:r>
              <a:rPr sz="1350" b="1">
                <a:solidFill>
                  <a:srgbClr val="B23A48"/>
                </a:solidFill>
              </a:rPr>
              <a:t>OpenSearch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D9D13-DC7A-47B2-BA5F-11D7F36F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templates alias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workout_sessions alias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fuzzy, facets, highlight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DE737-4031-4031-A3F4-6E08C903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C7A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D9C08-71AE-45E5-A905-FC4406C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7A57"/>
                </a:solidFill>
              </a:defRPr>
            </a:pPr>
            <a:r>
              <a:rPr sz="1350" b="1">
                <a:solidFill>
                  <a:srgbClr val="3C7A57"/>
                </a:solidFill>
              </a:rPr>
              <a:t>Revalidare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A0669-9D66-4D84-A4E6-01B5BCA7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IDs verificate din nou în PostgreSQL</a:t>
            </a:r>
          </a:p>
        </p:txBody>
      </p: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71800" y="27146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7146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3A48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27146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7A57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DB9C0-A654-4D8D-BC57-0788A833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AA915-9562-452D-9AD6-8354A05A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48125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23A48"/>
                </a:solidFill>
              </a:defRPr>
            </a:pPr>
            <a:r>
              <a:rPr sz="3450" b="1">
                <a:solidFill>
                  <a:srgbClr val="B23A48"/>
                </a:solidFill>
              </a:rPr>
              <a:t>15.8s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17749-AFDA-414F-BFAB-67C4D4F2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958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PostgreSQL fuzzy p50 la 2M documente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3D027-1151-4A65-A4CB-05AA52A3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57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F6605-9168-4D23-8591-2F14BB6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48125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C7A57"/>
                </a:solidFill>
              </a:defRPr>
            </a:pPr>
            <a:r>
              <a:rPr sz="3450" b="1">
                <a:solidFill>
                  <a:srgbClr val="3C7A57"/>
                </a:solidFill>
              </a:rPr>
              <a:t>3.9ms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78E8E-23AD-4F3A-BB78-61C285E5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958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OpenSearch fuzzy p50 la 2M documente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0A99C-6DCC-4396-A5F1-C0E8155E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BDC84-D4E2-456E-A589-3A6C962F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8125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2x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B75FE-E398-4F86-BA90-01DAAFBC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OpenSearch a construit indexul mai repede la 2M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AD51E-2E73-4F5A-B265-0AC48ECC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57625"/>
            <a:ext cx="2238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ABDB7-A8DD-4FE8-97BD-9C980285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3.6x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E833B-39A8-42BD-AD42-0710BABA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95825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index OpenSearch mai mic pe disc la 2M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61ADE-443A-4E58-B3A5-8883D96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F5685E-4F5E-4C88-967F-880E3AC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05779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D0F97-F97B-410C-A94F-6817BCB7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C0D07-1FC3-4DE2-8498-44870BDF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Corectitudinea este împinsă în baza de date și verificată cu teste reale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D85E9-F419-4B9E-95C9-E8D107C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69D5E-3A00-4AF3-999C-0DD752E7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B518D-6AD4-4F7F-8519-4492EAEE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9A6B19"/>
                </a:solidFill>
              </a:defRPr>
            </a:pPr>
            <a:r>
              <a:rPr sz="3450" b="1">
                <a:solidFill>
                  <a:srgbClr val="9A6B19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BDA84-8FB1-4969-AE48-ADB96974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tabele în schema Flyway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C4C99-8DD2-4882-A229-76B7F898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85C0C-87FF-4BEB-877A-95E602D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C7A57"/>
                </a:solidFill>
              </a:defRPr>
            </a:pPr>
            <a:r>
              <a:rPr sz="3450" b="1">
                <a:solidFill>
                  <a:srgbClr val="3C7A57"/>
                </a:solidFill>
              </a:rPr>
              <a:t>128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66A4A-5C8F-43DD-9D29-455310FF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teste în backend/src/test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E113D-5B48-410F-833B-EA13B24C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74184-C477-496E-A451-D297DC98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23A48"/>
                </a:solidFill>
              </a:defRPr>
            </a:pPr>
            <a:r>
              <a:rPr sz="3450" b="1">
                <a:solidFill>
                  <a:srgbClr val="B23A48"/>
                </a:solidFill>
              </a:rPr>
              <a:t>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57C20-D1C2-46F3-B81B-81905212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documente în benchmark-ul de căutare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4FD64-E9CB-46BD-BC4F-0831D412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82E8A-6B3F-47B7-B709-A33823B2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F6F9F"/>
                </a:solidFill>
              </a:defRPr>
            </a:pPr>
            <a:r>
              <a:rPr sz="3450" b="1">
                <a:solidFill>
                  <a:srgbClr val="2F6F9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41A0B-B433-4BA5-BDE1-56A4261B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28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workout activ permis per utilizator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E3370-9E57-44CD-906A-CDCA4F32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457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B5D65-693C-44AD-BFBF-43C1E2A5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Constrângeri care contează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6A305-31D1-4DF4-841D-635CD13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FK-uri, CHECK-uri, indecși unici parțiali, soft delete și UNIQUE pentru ordinea seturilor/exercițiilor.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4595B-D102-4F2A-8E2F-065CBD23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57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5C3E6-9E71-4AC5-B3AE-401AB768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Testare pe infrastructură reală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9CC16-585D-414E-B40F-C5DCE864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Testcontainers pornește PostgreSQL 16, iar suita de search pornește OpenSearch real. Nu se folosește H2.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A5411-2B39-467C-A9A5-46091D5C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C80E7-C7D7-47F5-AE04-09AA32F3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13717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3A64B-C65F-455D-B466-E0EFE73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Platformă web pentru antrenamente de forță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04B0C-AF7D-4E7A-964D-75BEC66B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Contribuția este integrarea coerentă a unui sistem complet, sigur și extensibil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93F2A-C71A-4EBC-BD23-0B56BEA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DAC6D-20E2-45BE-A44F-685D795E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7D623-BA8D-4985-AFE4-75B486C2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Ce am construit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04173-7566-4481-AC8F-C295BDA4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76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aplicație full-stack funcțională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planificare, sesiuni, istoric, analytics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marketplace, coaching, analizator,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A7890-FD46-477E-8B4B-31E3EDA5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D544C-4C4F-456A-B807-EEA89248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479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Ce o face robustă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8B9E7-A4BC-4809-947B-F1A80910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6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snapshot-uri pentru istoric stabil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JWT, refresh rotation, BCrypt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ownership, RBAC și ReBAC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PostgreSQL ca sursă de adevăr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9C1DD-539F-4F9E-835D-9DD6EC9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5B86C-60D2-434C-BE2C-3DEB778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479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Ce demonstrează tehnic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BC83E-B988-4734-B5ED-9B2DCC8B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76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OpenSearch ca read model derivat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benchmark empiric cu 2M documente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teste cu infrastructură reală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arhitectură modulară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01EBD-926A-4363-B441-8C207346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Pe scurt: proiectul rezolvă o problemă de produs reală prin decizii tehnice care păstrează datele corecte, private și căutabile la scară.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90B66-97FF-427A-A628-A429E72A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Licență - prezentare proiect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ECABC-8177-4E86-9989-7F72EB2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9223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2026-07-02T01:24:26.1060000Z</dcterms:created>
  <dcterms:modified xsi:type="dcterms:W3CDTF">2026-07-02T01:24:26.1060000Z</dcterms:modified>
</coreProperties>
</file>